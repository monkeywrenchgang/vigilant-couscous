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241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JHBI Payment Products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Unified Data Platform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February 2026 | Internal Use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Payment data fragmented across 7 payment rails and 4+ source systems, creating data silos and limiting analytical insights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JHBI unified data platform providing single source of truth with multi-layered architecture (Raw → Silver → Gold zones)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7889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Scope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0632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ACH, Wire, Card, Zelle, RTP/FedNow, Check/RDC, and Bill Payment transactions across 300+ financial institutions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Value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9319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Enable consortium analytics, real-time fraud detection, regulatory reporting, and data-as-a-service monetization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JHBI Platform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</a:rPr>
              <a:t>Jack Henry Business Intelligence (JHBI) is a data-as-a-service platform delivering unified payment transaction data to financial institutions and enabling consortium-level analytics.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0604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0604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Core Capabilities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Multi-tenant data isolation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Real-time CDC ingestion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Unified schema across 7 rails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PCI/PII compliant tokenization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API &amp; data marketplace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1920240"/>
            <a:ext cx="260604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37560" y="1920240"/>
            <a:ext cx="260604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Source Systems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iPay (ACH, Wire)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EPS (Card processing)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Payrailz (P2P, RTP)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3794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BPS (Bill payment)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0440" y="4206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CPS (Check processing)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920240"/>
            <a:ext cx="260604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1920240"/>
            <a:ext cx="260604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Use Cases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Fraud detection &amp; prevention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Regulatory reporting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Consortium benchmarking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794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Customer analytics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206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Revenue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Challenge: Payment Data Fragmentation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Current State Challenges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7 different payment rails with unique data structures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4+ source systems with inconsistent schemas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No unified view across payment types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Limited ability for cross-rail analytics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Siloed compliance and fraud monitoring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Complex integration for consuming applications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Fragmented Data Landscape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18288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1874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iPay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8288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0" y="1874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8288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1874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Payrailz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0" y="182880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0" y="1874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8090"/>
                </a:solidFill>
              </a:rPr>
              <a:t>↓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029200" y="269748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27614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</a:rPr>
              <a:t>ACH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69748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0" y="27614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</a:rPr>
              <a:t>Wire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269748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0" y="27614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</a:rPr>
              <a:t>Card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0" y="269748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0" y="27614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</a:rPr>
              <a:t>Zelle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324612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331012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</a:rPr>
              <a:t>RTP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324612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0" y="331012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</a:rPr>
              <a:t>Check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3246120"/>
            <a:ext cx="777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58000" y="331012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</a:rPr>
              <a:t>Bill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</a:rPr>
              <a:t>= Data Silos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JHBI Solution: Unified Payment Intelligence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Unified Data Platform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164592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Source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Systems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14600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834640" y="1645920"/>
            <a:ext cx="1645920" cy="914400"/>
          </a:xfrm>
          <a:prstGeom prst="rect">
            <a:avLst/>
          </a:prstGeom>
          <a:solidFill>
            <a:srgbClr val="7B88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Raw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Zone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846320" y="1645920"/>
            <a:ext cx="164592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Silver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Zone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858000" y="1645920"/>
            <a:ext cx="1645920" cy="9144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Gold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Zone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Key Benefits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Single source of truth: One unified schema across all payment rails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7033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Multi-tenant isolation: Secure data segregation with _tenant_id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9776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Real-time insights: CDC-enabled streaming with &lt;5min latency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251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Flexible analysis: Raw layer for forensics, Gold layer for analytics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5262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5262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Consortium analytics: Anonymized benchmarking across FIs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Multi-Layer Architecture: Source to Gold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1005840"/>
            <a:ext cx="5486400" cy="640080"/>
          </a:xfrm>
          <a:prstGeom prst="rect">
            <a:avLst/>
          </a:prstGeom>
          <a:solidFill>
            <a:srgbClr val="1E2761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116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Source Systems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11680" y="1325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iPay, EPS, Payrailz, BPS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CDC-enabled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source databases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1691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17556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CDC Transform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920240"/>
            <a:ext cx="5486400" cy="640080"/>
          </a:xfrm>
          <a:prstGeom prst="rect">
            <a:avLst/>
          </a:prstGeom>
          <a:solidFill>
            <a:srgbClr val="7B8894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Raw Layer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0" y="2240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Source-specific tables (7 tables)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Maintains original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structure &amp; history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2606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74720" y="26700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CDC Transform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2834640"/>
            <a:ext cx="5486400" cy="640080"/>
          </a:xfrm>
          <a:prstGeom prst="rect">
            <a:avLst/>
          </a:prstGeom>
          <a:solidFill>
            <a:srgbClr val="00A896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Silver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11680" y="3154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Unified payment transactions (1 table)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Normalized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with JSONB details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3520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74720" y="35844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6454F"/>
                </a:solidFill>
              </a:rPr>
              <a:t>CDC Transform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0" y="3749040"/>
            <a:ext cx="5486400" cy="640080"/>
          </a:xfrm>
          <a:prstGeom prst="rect">
            <a:avLst/>
          </a:prstGeom>
          <a:solidFill>
            <a:srgbClr val="FFB300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1168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Gold Layer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011680" y="4069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Analytics &amp; aggregations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Pre-aggregated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BI &amp; reporting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Reference Tables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Status codes, Payment types,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Return codes, Directions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Metadata Layer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4709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Data catalog, Lineage,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Source-to-target mappings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Payment Types Supported (7 Rails)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4114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</a:rPr>
              <a:t>Automated Clearing House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Highest volume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5176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51760" cy="4114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Wire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</a:rPr>
              <a:t>Wire Transfers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High value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5176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651760" cy="4114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</a:rPr>
              <a:t>Credit &amp; Debit Cards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High frequency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265176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2651760" cy="41148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Zelle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</a:rPr>
              <a:t>P2P Payments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Growing rapidly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560320"/>
            <a:ext cx="265176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37560" y="2560320"/>
            <a:ext cx="2651760" cy="41148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RTP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47472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</a:rPr>
              <a:t>Real-Time Payments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24/7 instant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560320"/>
            <a:ext cx="265176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9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17920" y="2560320"/>
            <a:ext cx="2651760" cy="411480"/>
          </a:xfrm>
          <a:prstGeom prst="rect">
            <a:avLst/>
          </a:prstGeom>
          <a:solidFill>
            <a:srgbClr val="19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FedNow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5508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</a:rPr>
              <a:t>Federal Reserve RTP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Instant settlement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265176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4023360"/>
            <a:ext cx="2651760" cy="41148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Check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94360" y="4526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</a:rPr>
              <a:t>Check &amp; RDC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" y="4800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Declining but stable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Each payment type has unique attributes stored in unified schema's payment_details JSONB column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Data Flow &amp; CDC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Source Capture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CDC enabled at source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database (iPay, EPS, etc.)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Tokenization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PCI/PII fields tokenized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at ingestion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Raw Load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Preserve source structure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with CDC metadata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766560" y="1097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6656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Silver Transform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Normalize to unified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schema with JSONB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CDC Metadata Standards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3375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•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3337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_cdc_sequence_id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333756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Monotonic sequence for ordering changes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6118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• 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3611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_cdc_operation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34640" y="361188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I (Insert), U (Update), D (Delete)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8862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• 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3886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_cdc_timestamp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34640" y="388620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When change was captured at source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1605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• 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4160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_cdc_source_system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34640" y="416052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Source application identifier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4348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• 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7240" y="4434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_cdc_load_timestamp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34640" y="443484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When record landed in target database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Layer 1: Raw Zone - Source-Specific Tables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Purpose: Preserve original source structure with minimal transformation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raw_ach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</a:rPr>
              <a:t>~50M/day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PK: ach_transaction_id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raw_wire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</a:rPr>
              <a:t>~500K/day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PK: wire_transaction_id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raw_card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</a:rPr>
              <a:t>~100M/day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PK: card_transaction_id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246888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606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raw_zelle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880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</a:rPr>
              <a:t>~10M/day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3063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PK: zelle_transaction_id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raw_rtp_fednow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</a:rPr>
              <a:t>~2M/day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069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PK: instant_payment_id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347472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raw_check_rdc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</a:rPr>
              <a:t>~5M/day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4069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PK: check_transaction_id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8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4617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raw_billpay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</a:rPr>
              <a:t>~15M/day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5074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PK: bill_pay_transaction_id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Characteristics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4892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✓ 1:1 mapping with source system schemas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51480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✓ Contains source-specific fields (e.g., trace_number for ACH)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540410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✓ All records include CDC metadata (_cdc_*) and _tenant_id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Layer 2: Silver Zone - Unified Schema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Purpose: Single unified table for all payment types with normalized common fields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640080"/>
          </a:xfrm>
          <a:prstGeom prst="rect">
            <a:avLst/>
          </a:prstGeom>
          <a:solidFill>
            <a:srgbClr val="00A896"/>
          </a:solidFill>
          <a:ln w="381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unified_payment_transactions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0" y="214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↓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25603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210312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Common Fields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transaction_id (PK)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273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tenant_id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payment_type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6941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source_system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amount, currency_code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114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transaction_date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43251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status, direction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25603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14600" y="2560320"/>
            <a:ext cx="2103120" cy="3657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1460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Timeline Fields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initiated_timestamp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51760" y="3273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posted_timestamp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5176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settled_timestamp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1760" y="36941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effective_date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settlement_date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5603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2560320"/>
            <a:ext cx="2103120" cy="36576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Party Fields (Tokenized)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originator_name (PII)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273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originator_account_token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originator_routing_number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6941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beneficiary_name (PII)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beneficiary_account_token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4114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beneficiary_routing_number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95160" y="2560320"/>
            <a:ext cx="21031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95160" y="2560320"/>
            <a:ext cx="2103120" cy="36576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9516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Rail-Specific Fields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3232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payment_details JSONB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0" y="3273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{ trace_number, ... } for ACH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0" y="3483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{ wire_reference, ... } for Wire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32320" y="36941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{ card_number, ... } for Card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3232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{ email, phone } for Zelle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4114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• etc.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</a:rPr>
              <a:t>JSONB approach allows flexibility without schema changes when new payment rails are added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Layer 3: Gold Zone - Analytics &amp;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Purpose: Pre-aggregated, business-optimized tables for reporting and analytics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727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gold_by_payment_type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8013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Daily aggregations by payment 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Metrics: txn_count, total_amount, avg_amount, fee_revenue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4414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gold_by_tenant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6700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Per-FI performance metrics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Metrics: volume, revenue, settlement_times, status_distribution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" y="3337560"/>
            <a:ext cx="45720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3101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gold_fraud_signals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5387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Fraud detection features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429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Metrics: anomaly_scores, velocity_checks, cross-rail patterns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" y="4206240"/>
            <a:ext cx="45720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41788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gold_consortium_benchmarks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4074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Anonymized peer comparisons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297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</a:rPr>
              <a:t>Metrics: digital_adoption, fraud_rates, avg_transaction_size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Primary Use Cases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50749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◆ Executive dashboards &amp; KPI monitoring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50749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◆ Regulatory reporting (faster aggregations)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53035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◆ Consortium analytics &amp; peer benchmarking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53035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◆ ML/AI feature engineering for fraud models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Cross-Layer Data Lineage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Example: ACH Transaction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8288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iPay Database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ach_transactions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table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920240"/>
            <a:ext cx="8229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1737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CDC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1828800" cy="914400"/>
          </a:xfrm>
          <a:prstGeom prst="rect">
            <a:avLst/>
          </a:prstGeom>
          <a:solidFill>
            <a:srgbClr val="7B88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Raw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874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raw_ach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+ CDC metadata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1920240"/>
            <a:ext cx="8229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0" y="17373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Transform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19456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Silver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unified_payment_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transactions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2377440"/>
            <a:ext cx="0" cy="45720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2697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Aggregate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3017520"/>
            <a:ext cx="2194560" cy="9144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Gold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gold_by_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payment_type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Metadata Lineage Tracking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metadata_source_to_target table captures: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Source system → Target table mappings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Field-level transformations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Data quality rules applied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Standard Metadata Column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</a:rPr>
              <a:t>Consistent metadata columns applied to ALL transaction tables across all layers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Multi-Tenancy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_tenant_id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874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Financial institution identifier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VARCHAR(255)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8229600" cy="3657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134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Change Data Capture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6791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_cdc_sequence_id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6791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Sequence for ordering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6791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VARCHAR(255)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9352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_cdc_operation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9352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I/U/D operation type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9352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VARCHAR(1)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1912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_cdc_timestamp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31912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Source capture 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1912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TIMESTAMP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447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_cdc_source_system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4472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Source identifier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34472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VARCHAR(100)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_cdc_load_timestamp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703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Target load time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TIMESTAMP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096512"/>
            <a:ext cx="8229600" cy="36576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142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Audit Trail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5079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created_timestamp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4507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Record creation time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45079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TIMESTAMP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47640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updated_timestamp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47640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Last update time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47640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TIMESTAMP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502005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created_by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0" y="50200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Creator identifier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50200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VARCHAR(255)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" y="52760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updated_by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52760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Updater identifier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0" y="5276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VARCHAR(255)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0080" y="5715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Classification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1520" y="6080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[field]_classification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00400" y="6080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PCI/PII/Standard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0" y="6080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Metadata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" y="63367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• [field]_encrypted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00400" y="63367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Encryption flag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83680" y="6336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BOOLEAN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Multi-Tenancy Strategy: _tenant_id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Isolation Strategy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Row-Level Security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All queries automatically filtered by _tenant_id using database policies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Data Segregation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Each FI can only access their own transaction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Consortium Mode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735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Gold layer provides anonymized aggregates for benchmarking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API Gateway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050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JWT tokens include tenant_id claim for automatic filtering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Implementation Example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55448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Enable RLS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unified_payment_transactions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 ROW LEVEL SECURITY;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Create tenant policy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POLICY tenant_isolation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unified_payment_transactions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_tenant_id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current_setting(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'app.tenant_id'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)::VARCHAR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Application sets tenant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app.tenant_id = 'FI_12345';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Query auto-filtered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unified_payment_transactions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status = 'SETTLED';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Only returns FI_12345 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300+ financial institutions segregated with zero cross-tenant data leakage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CDC Capabilities: Real-Time Data Streaming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Why CDC?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Real-Time Latency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7556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&lt; 5 minutes from source to silver layer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0" y="1508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Incremental Processing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7556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Only process changed records, not full table scans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80160" y="24231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Audit Trail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6700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Complete history of all changes (I/U/D operations)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28600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24231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Event Ordering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26700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Sequence IDs ensure correct ordering of changes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CDC Workflow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657600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1. Source database captures DML operations (INSERT/UPDATE/DELETE)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931920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2. CDC process reads change log and enriches with metadata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3. Tokenization applied to PCI/PII fields at ingestion boundary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480560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4. Raw layer receives changes with _cdc_* metadata preserved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754880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5. Transform pipeline processes new/changed records to silver layer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Current Volume: ~180M transactions/day processed with CDC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Security &amp; Compliance Standards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45720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PCI Compliance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Account numbers tokenized at 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67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Card numbers never stored in plaintext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511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Tokens irreversible without secure vault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352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Detokenization only for authorized systems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192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PCI DSS Level 1 certified infrastructure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7432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A4C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743200" cy="45720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PII Protection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1783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Names, addresses flagged as PII in schema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167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Encryption at rest (AES-256)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5511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Encryption in transit (TLS 1.3)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9352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Masked in non-production environments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3192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Access logging for audit trail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188720"/>
            <a:ext cx="27432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27432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Governance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1783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Every field has data classification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167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Metadata catalog tracks sensitivity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5511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Role-based access control (RBAC)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9352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Column-level security where applicable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3192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✓ Automated compliance scanning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Compliance Frameworks Supported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PCI DSS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9456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19456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SOC 2 Type II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7472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GDPR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CCPA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3504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GLBA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0" y="4526280"/>
            <a:ext cx="10972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315200" y="4572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NACHA Rules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Unified Schema: Technical Specifications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Hybrid Columnar + JSONB Approach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</a:rPr>
              <a:t>Common fields as columns for fast filtering; rail-specific fields in JSONB for flexibility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unified_payment_transactions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transaction_id (PK)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500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tenant_id (indexed)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5117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payment_type (indexed)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5234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source_system, source_transaction_id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535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amount, currency_code, fee_amount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transaction_date, settlement_date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3558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status, direction, channel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55701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originator_* (tokenized)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75818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beneficiary_* (tokenized)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95935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payment_details JSONB 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_cdc_* (5 fields)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3616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• created_timestamp, updated_timestamp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Why JSONB for Rail Details?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2011680"/>
            <a:ext cx="411480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21945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21945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Schema Flexibility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377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Add new payment rails without schema changes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6517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26517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Indexed Queries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28346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GIN indexes allow fast JSON field lookups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108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20640" y="31089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Type Safety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32918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JSON Schema validation enforces structure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35661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20640" y="35661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Storage Efficiency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37490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Only store fields relevant to each rail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40233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20640" y="40233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</a:rPr>
              <a:t>Version Compatibility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42062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Handle multiple source system versions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Performance &amp; Scalability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Current Production Metrics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481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Daily Transaction Volume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7099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180M+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23560" y="1481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Data Ingestion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17099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&lt; 5 min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34440" y="2304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Query Response Time (p95)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5328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&lt; 500ms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46320" y="2194560"/>
            <a:ext cx="41148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23560" y="2304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Data Retention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25328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7 years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Optimization Strategies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4747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474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Partitioning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347472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Tables partitioned by transaction_date (monthly) and _tenant_id for faster queries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76732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767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Indexing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3767328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Composite indexes on (tenant_id, status, date); GIN indexes on JSONB columns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05993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05993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Compression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760" y="4059936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Columnar compression on cold data (&gt;90 days); reduces storage by 70%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35254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435254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Caching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51760" y="4352544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Redis cache for gold layer aggregations; 95% cache hit 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64515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" y="46451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Archival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651760" y="4645152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</a:rPr>
              <a:t>Data &gt;3 years moved to cold storage (S3/BigQuery long-term); queryable via federation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Implementation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109728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11704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Phase 1: Foundation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11704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CAF50"/>
                </a:solidFill>
              </a:rPr>
              <a:t>Completed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44475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Raw &amp; Silver layer schemas designed • CDC pipelines for ACH, Wire, Card • Multi-tenancy &amp; security framework • Initial 50 FIs onboarded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20040" cy="320040"/>
          </a:xfrm>
          <a:prstGeom prst="ellipse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13055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05740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21305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Phase 2: Expansion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21305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B300"/>
                </a:solidFill>
              </a:rPr>
              <a:t>In Progress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40487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Add Zelle, RTP, FedNow rails • Gold layer analytics tables • API marketplace launch • Scale to 150 FIs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09067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301752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88720" y="30906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Phase 3: Advanced Analytics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30906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896"/>
                </a:solidFill>
              </a:rPr>
              <a:t>Q2-Q3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336499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Consortium benchmarking • ML-powered fraud detection • Real-time event streaming • 300+ FIs onboarded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05079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05840" y="397764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88720" y="40507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Phase 4: Monetization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40507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</a:rPr>
              <a:t>Q4 2026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32511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Data-as-a-service subscriptions • Premium API tiers • White-label analytics • International expansion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7889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Review standard metadata column requirements with data architecture team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2004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Validate unified schema design with consuming applications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611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Prioritize Phase 2 payment rails (Zelle, RTP, FedNow) for development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9776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0233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Establish governance for gold layer aggregation definitions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38912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4348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4348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Plan consortium analytics pilot with 10-15 participating FIs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</a:rPr>
              <a:t>Questions? Contact: jhbi-platform-team@jackhenry.com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3605</TotalTime>
  <Words>2228</Words>
  <Application>Microsoft Macintosh PowerPoint</Application>
  <PresentationFormat>On-screen Show (16:9)</PresentationFormat>
  <Paragraphs>511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JHBI Payment Products Platform</dc:title>
  <dc:subject>Data Architecture &amp; Unified Schema Design</dc:subject>
  <dc:creator>JHBI Team</dc:creator>
  <cp:lastModifiedBy>Adam Ames</cp:lastModifiedBy>
  <cp:revision>2</cp:revision>
  <dcterms:created xsi:type="dcterms:W3CDTF">2026-02-17T01:20:06Z</dcterms:created>
  <dcterms:modified xsi:type="dcterms:W3CDTF">2026-02-20T02:56:04Z</dcterms:modified>
</cp:coreProperties>
</file>