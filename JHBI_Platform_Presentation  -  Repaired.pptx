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101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JHBI Payment Products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Unified Data Platform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February 2026 | Internal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Payment data fragmented across 7+ payment rails and 8+ source applications (iPay, PayCenter, Payrailz, EPS, CPS, etc.), creating data silos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JHBI unified data platform providing single source of truth across ~9,000 FIs with multi-layered CDC architecture (Raw → Silver → Gold zones)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ACH, Wire, Card, Zelle, RTP/FedNow (1.3M+ txns Q1 2025), Check/RDC, Bill Payment, P2P, A2A, B2B disbursements, merchant acceptance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Enable consortium analytics, real-time fraud detection (Financial Crimes Defender), regulatory reporting, and data-as-a-service monetization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JHBI Platform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Jack Henry Business Intelligence (JHBI) is a data-as-a-service platform serving ~9,000 financial institutions, delivering unified payment transaction data and enabling consortium-level analytics across the Jack Henry payments ecosystem.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Capabilities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Multi-tenant data isolation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Real-time CDC ingestion (&lt;5min)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3697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Unified schema across 7+ rails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PCI/PII compliant tokenization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050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API &amp; data marketplace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Fraud detection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260604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37560" y="182880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Systems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2468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iPay Solutions (~3,400 FIs)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8529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JHA PayCenter (RTP/FedNow)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23697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Payrailz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62102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EPS (Enterprise Payments)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40050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CPS (Card Processing)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43891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Jack Henry Wires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47731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Tap2Local (NEW 2025)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260604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 Cases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2468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Fraud detection &amp; prevention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8529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Regulatory reporting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23697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Consortium benchmarking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62102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Customer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0050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Revenue optimization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3891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• Risk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Jack Henry Payment Product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iPay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Bill pay platform serving ~3,400 FIs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JHA PayCenter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36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Instant payments hub (RTP, FedNow, Zelle)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4C93"/>
                </a:solidFill>
              </a:rPr>
              <a:t>Payrailz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Next-gen digital: P2P, A2A, bill pay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Enterprise Payment Solutions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Business payments: ACH, Check 21, RDC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Card Processing Solutions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Full card issuing: debit, credit, prepaid, gift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19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2C4"/>
                </a:solidFill>
              </a:rPr>
              <a:t>Jack Henry Wires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Cloud-native wire transfer (domestic/intl)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</a:rPr>
              <a:t>Tap2Local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SMB card acceptance (NEW 2025)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977640"/>
            <a:ext cx="411480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8894"/>
                </a:solidFill>
              </a:rPr>
              <a:t>Business Payment Solutions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B2B/B2V disbursements via JHA Money Center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Challenge: Payment Data Fragmentation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Current State Challenges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7+ payment rails with unique data structures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8+ source systems (iPay, PayCenter, Payrailz, EPS, CPS, Wires, Tap2Local, BPS)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No unified view across payment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Limited cross-rail analytics capability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Siloed fraud and compliance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Complex integration for consuming applications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Fragmented Data Landscape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iPay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0644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PayCenter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Payrailz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438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22860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2860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0644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Wires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22860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Tap2L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43800" y="22860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029200" y="320040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264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</a:rPr>
              <a:t>ACH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7880" y="320040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97880" y="3264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</a:rPr>
              <a:t>Wire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320040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3264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</a:rPr>
              <a:t>Card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35240" y="320040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35240" y="32644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</a:rPr>
              <a:t>Zelle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374904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38130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</a:rPr>
              <a:t>RTP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97880" y="374904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97880" y="38130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</a:rPr>
              <a:t>FedNow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74904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0" y="38130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</a:rPr>
              <a:t>Check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</a:rPr>
              <a:t>= Data Silos &amp; Limited Insights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Multi-Layer Architecture: Source to Gold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005840"/>
            <a:ext cx="5486400" cy="640080"/>
          </a:xfrm>
          <a:prstGeom prst="rect">
            <a:avLst/>
          </a:prstGeom>
          <a:solidFill>
            <a:srgbClr val="1E2761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Systems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8 Jack Henry payment applications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CDC-enabled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source databases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7556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920240"/>
            <a:ext cx="5486400" cy="640080"/>
          </a:xfrm>
          <a:prstGeom prst="rect">
            <a:avLst/>
          </a:prstGeom>
          <a:solidFill>
            <a:srgbClr val="7B8894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Raw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Source-specific tables (7-10 tables)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Maintains original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structure &amp; history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26700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548640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Silver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3154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Unified payment transactions (1 table)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Normalized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with JSONB details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5844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3749040"/>
            <a:ext cx="5486400" cy="640080"/>
          </a:xfrm>
          <a:prstGeom prst="rect">
            <a:avLst/>
          </a:prstGeom>
          <a:solidFill>
            <a:srgbClr val="FFB300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Gold Layer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01168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Analytics &amp; aggregations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Pre-aggregated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BI &amp; reporting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Reference Tables: Status codes, Payment types, Return codes (R01-R85)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Metadata Layer: Data catalog, Lineage, Source-to-target mappings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Payment Types &amp; Rails: Comprehensive Coverage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6400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170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Automated Clearing House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426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Credit/Debit • Same-Day ACH • Check-to-ACH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09728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Wire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170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Wire Transfers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426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FedWire (domestic) • SWIFT/Corpay (intl) • ISO 20022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109728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965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Card 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157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Credit, Debit, Prepaid • ATM, EMV, Contactless • Virtual cards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82880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1097280" cy="6400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965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Real-Time Payments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157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RTP (TCH) • FedNow (Fed) • Request for Payment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1097280" cy="64008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Zelle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2633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P2P Network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28895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P2P Send/Receive • Commercial Zelle • Token validation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560320"/>
            <a:ext cx="1097280" cy="640080"/>
          </a:xfrm>
          <a:prstGeom prst="rect">
            <a:avLst/>
          </a:prstGeom>
          <a:solidFill>
            <a:srgbClr val="19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P2P/A2A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35040" y="2633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Person-to-Person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8895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Payrailz P2P • A2A Transfer • Internal/External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3291840"/>
            <a:ext cx="1097280" cy="6400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Bill Pay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45920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Bill Payment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45920" y="36210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Consumer/Business • Card-funded (CardPay) • Donations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29184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46320" y="3291840"/>
            <a:ext cx="1097280" cy="640080"/>
          </a:xfrm>
          <a:prstGeom prst="rect">
            <a:avLst/>
          </a:prstGeom>
          <a:solidFill>
            <a:srgbClr val="7B88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Check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35040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Check &amp; RDC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35040" y="36210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Check 21 • Mobile RDC • Commercial RDC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02336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4023360"/>
            <a:ext cx="1097280" cy="64008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B2B/B2V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645920" y="40965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Business Payments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645920" y="4352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Vendor payments • Payroll • Remittance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402336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46320" y="4023360"/>
            <a:ext cx="1097280" cy="64008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Merchant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035040" y="40965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Card Acceptance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35040" y="4352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Tap2Local (NFC) • QR Code • Payment Links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Source Application → Payment Type Mapping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42976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iPay Solutions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789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Consumer/business bill pay, P2P, card-funded bill pay (CardPay), donations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2011680" cy="4297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JHA PayCenter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554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RTP send/receive, FedNow send/receive, Zelle, Request for Payment, Rail Finder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56816"/>
            <a:ext cx="2011680" cy="42976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Payrailz Platform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0299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Pay a Person (P2P), Transfer Money (A2A), Pay a Bill, loan payments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32304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2011680" cy="42976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505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EPS (Enterprise)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50545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Check 21, ACH credit/debit, RDC (Ensenta), SmartPay (mRDC, Biller Direct)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2011680" cy="429768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980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CPS (Card Processing)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29809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Credit, debit, prepaid, gift card txns, ATM driving, digital issuance, instant issue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9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011680" cy="429768"/>
          </a:xfrm>
          <a:prstGeom prst="rect">
            <a:avLst/>
          </a:prstGeom>
          <a:solidFill>
            <a:srgbClr val="19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Jack Henry Wires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4564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Domestic wires (FedWire), international wires (Corpay/SWIFT), ISO 20022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58768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858768"/>
            <a:ext cx="2011680" cy="42976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Tap2Local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Merchant card acceptance (tap-to-pay NFC, QR code, payment links)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334256"/>
            <a:ext cx="8229600" cy="429768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334256"/>
            <a:ext cx="2011680" cy="429768"/>
          </a:xfrm>
          <a:prstGeom prst="rect">
            <a:avLst/>
          </a:prstGeom>
          <a:solidFill>
            <a:srgbClr val="7B88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Payments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60320" y="44074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B2V ACH, payroll, same-day ACH, remittance, government payments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1: Raw Zone - Source-Specific 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Preserve original source structure with minimal transformation. PCI/PII fields tokenized at ingestion.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iPay, EPS, BPS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ach_transaction_id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04825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trace_number, sec_code, effective_entry_date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raw_wire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5564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JH Wires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wire_transaction_id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3480" y="204825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wire_reference_number, value_date, iso20022_msg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2267712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3591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raw_card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56032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CPS, Tap2Local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724912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card_transaction_id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285292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card_token, auth_code, merchant_category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0" y="2267712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591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raw_instant_payment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56032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PayCenter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724912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instant_payment_id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3480" y="285292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network_type (RTP/FedNow), rfp_id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3072384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1638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raw_zelle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36499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PayCenter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529584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zelle_transaction_id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" y="365760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token, enrollment_status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846320" y="3072384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31638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raw_p2p_a2a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336499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Payrailz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529584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p2p_transaction_id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83480" y="365760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recipient_token, rail_used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" y="3877056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3968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raw_billpay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41696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iPay, Payrailz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4334256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bill_pay_transaction_id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360" y="446227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payee_id, delivery_method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846320" y="3877056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3968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raw_check_rdc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83480" y="41696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Source: EPS, Ensenta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4334256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PK: check_transaction_id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83480" y="446227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66"/>
                </a:solidFill>
              </a:rPr>
              <a:t>image_id, micrline, check21_indicator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2: Silver Zone - Unified Schema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Single unified table for all payment types with normalized common fields + JSONB for rail-specific attributes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00A896"/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unified_payment_transactions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10312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Common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transaction_id (PK)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tenant_id (FI identifier)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source_system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amount, currency_code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3251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status, direction, channel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4600" y="2560320"/>
            <a:ext cx="210312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460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Timeline Fields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requested_timestamp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initiated_timestamp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posted_timestamp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settled_timestamp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effective_date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settlement_date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560320"/>
            <a:ext cx="2103120" cy="36576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Party Fields (Tokenized)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originator_name (PII)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originator_account_token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originator_routing_token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beneficiary_name (PII)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beneficiary_account_token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beneficiary_routing_token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9516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95160" y="2560320"/>
            <a:ext cx="2103120" cy="36576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9516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Rail-Specific (JSONB)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payment_details JSONB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ACH: {trace_number, sec_code}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Wire: {wire_reference, iso20022}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Card: {card_token, merchant}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RTP/FedNow: {network, rfp_id}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Flexible for new rails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Hybrid approach: Common fields as columns for fast filtering; rail-specific in JSONB for flexibility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3: Gold Zone - Analytics &amp;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Pre-aggregated, business-optimized tables for reporting, analytics, and consortium benchmarking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gold_by_payment_type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Daily aggregations by payment type and FI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txn_count, total_amount, avg_amount, fee_revenue, settlement_sla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414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gold_by_tenant_metrics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Per-FI performance and operational metrics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volume, revenue, settlement_times, status_distribution, p95_latency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310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gold_fraud_signals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538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Real-time fraud detection features (Financial Crimes Defender)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anomaly_scores, velocity_checks, cross-rail patterns, AML flags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20624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1788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gold_consortium_benchmarks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07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Anonymized peer comparisons across ~9,000 FIs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digital_adoption_rate, fraud_rates, avg_txn_size, instant_payment_penetration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Enables executive dashboards, regulatory reporting, ML/AI feature engineering, and consortium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Standard Metadata Column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Consistent metadata columns applied to ALL transaction tables across all layers for governance, compliance, and auditability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Multi-Tenancy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_tenant_id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FI identifier for isolation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VARCHAR(255)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768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 Data Capture (CDC)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426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_cdc_sequence_id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6426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Monotonic sequence for ordering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2642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VARCHAR(255)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8895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_cdc_operation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8895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I/U/D operation type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8895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VARCHAR(1)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1363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_cdc_timestamp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13639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Source capture timestamp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3136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TIMESTAMP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_cdc_source_system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3832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Source app identifier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VARCHAR(100)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36301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_cdc_load_timestamp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36301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Target database load time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630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TIMESTAMP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8229600" cy="36576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0325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3982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created_timestamp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439826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Record creation timestamp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43982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TIMESTAMP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46451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updated_timestamp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46451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Last update timestamp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46451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TIMESTAMP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" y="4892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created_by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4892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Creator identifier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4892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VARCHAR(255)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" y="513892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updated_by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0" y="51389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Updater identifier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0" y="51389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VARCHAR(255)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" y="53858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record_version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53858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Version counter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3680" y="53858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INTEGER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5742432"/>
            <a:ext cx="8229600" cy="36576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5788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Classification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1520" y="61539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[field]_classification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0" y="61539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PCI/PII/Standard tag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0" y="61539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Metadata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" y="6400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[field]_encrypted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00400" y="64008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Encryption flag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6400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BOOLEAN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" y="66476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• [field]_tokenized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0" y="66476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Tokenization indicator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66476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</a:rPr>
              <a:t>BOOLEAN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Multi-Tenancy Strategy: _tenant_id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Isolation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Row-Level Security (RLS)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Database policies automatically filter all queries by _tenant_id. Zero cross-tenant data leakage.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Per-FI Data Segregation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Each of ~9,000 FIs can only access their own transaction data. Strict isolation enforced at DB layer.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Consortium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73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Gold layer provides anonymized, aggregated benchmarks for peer comparisons without exposing raw data.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API Gateway Filtering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JWT tokens include tenant_id claim. API automatically filters responses to caller's tenant.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Implementation Example (PostgreSQL)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Enable row-level security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unified_payment_transactions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ROW LEVEL SECURITY;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tenant isolation policy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tenant_isolation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unified_payment_transactions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_tenant_id 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current_setting(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'app.tenant_id'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)::VARCHAR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Application sets tenant context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app.tenant_id = 'FI_12345';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All queries auto-filtered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unified_payment_transactions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'SETTLED';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only FI_12345 data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Serving ~9,000 FIs with zero cross-tenant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CDC Capabilities: Real-Time Data Streaming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Why CDC?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Real-Time Latency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&lt; 5 minutes from source to silver layer for instant payment visibility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Incremental 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Only process changed records using _cdc_sequence_id, not full table scans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Complete 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670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History of all changes (I/U/D operations) with _cdc_timestamp for 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2860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Event Ordering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2670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Monotonic sequence IDs ensure correct ordering across distributed 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CDC Workflow &amp; Field Standards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1. Source DB captures DML operations (INSERT/UPDATE/DELETE) in change log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922776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2. CDC process reads change log, enriches with _cdc_timestamp, _cdc_sequence_id, _cdc_operation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18795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3. Tokenization applied to PCI/PII fields at ingestion boundary (before raw layer)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453128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4. Raw layer receives changes with all _cdc_* metadata preserved for audit trail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718304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5. Transform pipeline processes incremental changes to silver layer using _cdc_sequence_id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Processing volume: ~180M transactions/day with CDC across all payment products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&amp; Compliance Standards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PCI Compliance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Account numbers tokenized at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Card PANs never stored in plaintext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Tokens irreversible without secure vault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Detokenization only for authorized systems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PCI DSS Level 1 certified infrastructure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743200" cy="45720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PII Protection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Names, addresses flagged as PII in schema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Encryption at rest (AES-256)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Encryption in transit (TLS 1.3)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Masked in non-production environments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Access logging for complete audit trail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Governance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Every field has data classification tag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Metadata catalog tracks sensitivity levels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Role-based access control (RBAC)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Column-level security where applicable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Automated compliance scanning daily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Compliance Frameworks &amp; Fraud Detection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PCI DSS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1168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SOC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GDPR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CCPA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6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GLBA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3232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3232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NACHA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</a:rPr>
              <a:t>Integrated with Financial Crimes Defender for real-time fraud/AML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Unified Schema: Technical Specifications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Hybrid Columnar + JSONB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Common fields as columns for fast filtering; rail-specific fields in JSONB for flexibility without schema changes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unified_payment_transactions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transaction_id (PK)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tenant_id (indexed) — FI identifier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payment_type (indexed) — ACH/Wire/Card/etc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724912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source_system — iPay/PayCenter/etc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916936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source_transaction_id — Original txn 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amount, currency_code, fee_amount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300984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transaction_date, settlement_date (indexed)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493008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status, direction, channel (all indexed)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685032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originator_* (tokenized PCI/PII)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877056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beneficiary_* (tokenized PCI/PII)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payment_details JSONB ⭐ (GIN indexed)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261104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_cdc_* (5 fields for CDC metadata)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453128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created_timestamp, updated_timestamp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645152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record_version (optimistic locking)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Why JSONB for Rail Details?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2011680"/>
            <a:ext cx="41148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1945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194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Schema Flexibility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Add new payment rails (e.g., Tap2Local) without ALTER TABLE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6517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26517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Indexed Queries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28346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GIN indexes enable fast JSON field lookups (e.g., trace_number)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3108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Type Safety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2918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JSON Schema validation enforces structure per rail type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566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3566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Storage Efficiency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3749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Only store fields relevant to each rail (no NULL columns)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023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2064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Version Compatibility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42062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Handle multiple source system versions simultaneously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Performance &amp; Scalability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Current Production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Daily Transaction Volume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709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~180M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17556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Across all payment types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23560" y="14813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Data Ingestion 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1709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&lt; 5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17556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Source to Silver layer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23500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Query Response (p95)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&lt; 500ms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26243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Indexed queries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23560" y="23500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FedNow Transactions (Q1 2025)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1.3M+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26243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43% QoQ growth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Optimization Strategies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5661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566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Partitioning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3566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Tables partitioned by transaction_date (monthly) and _tenant_id for query pruning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8587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Indexing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3858768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Composite indexes on (tenant_id, status, date); GIN indexes on JSONB payment_details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15137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415137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Compression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4151376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Columnar compression on cold data (&gt;90 days) reduces storage by 70%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4439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44439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Caching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51760" y="4443984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Redis cache for gold layer aggregations achieves 95% cache hit rate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736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4736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Archival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651760" y="473659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Data &gt;3 years moved to cold storage (S3/BigQuery long-term) with federated query access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Fraud Detection &amp; Risk Monitoring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Jack Henry fraud and risk products generate transaction-level data integrated into JHBI analytics layer: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402336" cy="402336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Financial Crimes Defender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7739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Cloud-native, real-time fraud/AML monitoring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642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Coverage: Checks, RDC, transfers, ACH, instant payments, wires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258568"/>
            <a:ext cx="402336" cy="40233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4C93"/>
                </a:solidFill>
              </a:rPr>
              <a:t>Payrailz Fraud Monitor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4597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Real-time transaction scoring for digital payments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2350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Coverage: P2P, bill pay, A2A transfers (100% of txns scored)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2944368"/>
            <a:ext cx="402336" cy="4023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9718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Positive Pay / ACH Positive Pay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1455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Commercial check and ACH fraud prevention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30358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Coverage: Check validation, ACH match/no-match decisioning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3630168"/>
            <a:ext cx="402336" cy="40233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6576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611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AlertCenter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8313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Check fraud detection with Teller Capture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3721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Coverage: Stimulus check fraud, image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" y="4315968"/>
            <a:ext cx="402336" cy="402336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3434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297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iPay ESM (Gladiator)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45171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Bill pay fraud monitoring &amp; compliance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44074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Coverage: Bill payment transactions, regulatory compliance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Fraud detection signals integrated into gold_fraud_signals table for ML/AI model training and real-time alerting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09728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170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1: 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1704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CAF50"/>
                </a:solidFill>
              </a:rPr>
              <a:t>Completed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Raw &amp; Silver schemas designed • CDC pipelines: iPay, PayCenter, EPS, CPS • Multi-tenancy framework • ~50 FIs onboarded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05740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2: Expansion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1305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300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0487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Add Payrailz, Tap2Local, BPS sources • Gold layer analytics tables • API marketplace launch • Scale to 150+ FIs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01752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090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3: Advanced Analytics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96"/>
                </a:solidFill>
              </a:rPr>
              <a:t>Q2-Q3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3649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Consortium benchmarking • ML-powered fraud detection • Real-time event streaming • 300+ FIs onboarded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397764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4050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4: Monetization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Q4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32511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Data-as-a-service subscriptions • Premium API tiers • White-label analytics • International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788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Review standard metadata column requirements (_tenant_id, _cdc_*, audit fields) with data architecture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Validate unified schema design (columnar + JSONB approach) with consuming applications and data scientists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Prioritize Phase 2 source integrations: Payrailz, Tap2Local, Business Payment Solutions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Establish governance framework for gold layer aggregation definitions and consortium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348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Plan consortium analytics pilot with 10-15 participating FIs to validate benchmarking approach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</a:rPr>
              <a:t>Questions? Contact: jhbi-platform-team@jackhenry.com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4404</TotalTime>
  <Words>2903</Words>
  <Application>Microsoft Macintosh PowerPoint</Application>
  <PresentationFormat>On-screen Show (16:9)</PresentationFormat>
  <Paragraphs>515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Payment Products Platform</dc:title>
  <dc:subject>Data Architecture &amp; Unified Schema Design</dc:subject>
  <dc:creator>JHBI Team</dc:creator>
  <cp:lastModifiedBy>Adam Ames</cp:lastModifiedBy>
  <cp:revision>2</cp:revision>
  <dcterms:created xsi:type="dcterms:W3CDTF">2026-02-17T01:30:24Z</dcterms:created>
  <dcterms:modified xsi:type="dcterms:W3CDTF">2026-02-20T02:55:46Z</dcterms:modified>
</cp:coreProperties>
</file>